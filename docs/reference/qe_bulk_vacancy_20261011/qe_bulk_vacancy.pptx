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4B5D6F54.xml" ContentType="application/vnd.ms-powerpoint.comments+xml"/>
  <Override PartName="/ppt/notesSlides/notesSlide3.xml" ContentType="application/vnd.openxmlformats-officedocument.presentationml.notesSlide+xml"/>
  <Override PartName="/ppt/comments/modernComment_102_EF0A9B1.xml" ContentType="application/vnd.ms-powerpoint.comments+xml"/>
  <Override PartName="/ppt/notesSlides/notesSlide4.xml" ContentType="application/vnd.openxmlformats-officedocument.presentationml.notesSlide+xml"/>
  <Override PartName="/ppt/comments/modernComment_103_3A6083FF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4E8586-21A9-3CF7-8818-CB2BC504E746}" name="Johann Lüder" initials="LJ" userId="S::A1090201@o365.mail.nsysu.edu.tw::2fc83e5e-00a4-4829-a7ef-d2e7e91e1fc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D3978-5C2C-400A-908A-66AFB239039B}" v="17" dt="2026-05-19T09:17:14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0" d="100"/>
          <a:sy n="110" d="100"/>
        </p:scale>
        <p:origin x="91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wson Liu" userId="d66e70b8ef406eac" providerId="LiveId" clId="{30988846-2AD7-402F-A710-104D306926ED}"/>
    <pc:docChg chg="custSel modSld">
      <pc:chgData name="Dawson Liu" userId="d66e70b8ef406eac" providerId="LiveId" clId="{30988846-2AD7-402F-A710-104D306926ED}" dt="2026-05-19T09:17:14.684" v="143"/>
      <pc:docMkLst>
        <pc:docMk/>
      </pc:docMkLst>
      <pc:sldChg chg="addSp modSp mod">
        <pc:chgData name="Dawson Liu" userId="d66e70b8ef406eac" providerId="LiveId" clId="{30988846-2AD7-402F-A710-104D306926ED}" dt="2026-05-19T08:20:49.312" v="64" actId="1076"/>
        <pc:sldMkLst>
          <pc:docMk/>
          <pc:sldMk cId="250653105" sldId="258"/>
        </pc:sldMkLst>
        <pc:spChg chg="mod">
          <ac:chgData name="Dawson Liu" userId="d66e70b8ef406eac" providerId="LiveId" clId="{30988846-2AD7-402F-A710-104D306926ED}" dt="2026-05-19T08:04:39.994" v="37" actId="404"/>
          <ac:spMkLst>
            <pc:docMk/>
            <pc:sldMk cId="250653105" sldId="258"/>
            <ac:spMk id="7" creationId="{68A389D6-B8F9-4944-A6B1-363B56C9938E}"/>
          </ac:spMkLst>
        </pc:spChg>
        <pc:spChg chg="mod">
          <ac:chgData name="Dawson Liu" userId="d66e70b8ef406eac" providerId="LiveId" clId="{30988846-2AD7-402F-A710-104D306926ED}" dt="2026-05-19T08:05:08.530" v="46" actId="1076"/>
          <ac:spMkLst>
            <pc:docMk/>
            <pc:sldMk cId="250653105" sldId="258"/>
            <ac:spMk id="8" creationId="{26AEA314-5595-4314-8A91-C36A8CDA1C94}"/>
          </ac:spMkLst>
        </pc:spChg>
        <pc:spChg chg="add mod">
          <ac:chgData name="Dawson Liu" userId="d66e70b8ef406eac" providerId="LiveId" clId="{30988846-2AD7-402F-A710-104D306926ED}" dt="2026-05-19T08:20:49.312" v="64" actId="1076"/>
          <ac:spMkLst>
            <pc:docMk/>
            <pc:sldMk cId="250653105" sldId="258"/>
            <ac:spMk id="9" creationId="{21E593E7-B862-E385-483A-DFE5809A4587}"/>
          </ac:spMkLst>
        </pc:spChg>
        <pc:spChg chg="mod">
          <ac:chgData name="Dawson Liu" userId="d66e70b8ef406eac" providerId="LiveId" clId="{30988846-2AD7-402F-A710-104D306926ED}" dt="2026-05-19T08:20:17.573" v="47" actId="1076"/>
          <ac:spMkLst>
            <pc:docMk/>
            <pc:sldMk cId="250653105" sldId="258"/>
            <ac:spMk id="12" creationId="{4AF9BF65-8EDA-E0A4-51D9-68EE0AAC2D18}"/>
          </ac:spMkLst>
        </pc:spChg>
      </pc:sldChg>
      <pc:sldChg chg="addSp delSp modSp mod">
        <pc:chgData name="Dawson Liu" userId="d66e70b8ef406eac" providerId="LiveId" clId="{30988846-2AD7-402F-A710-104D306926ED}" dt="2026-05-19T09:17:14.684" v="143"/>
        <pc:sldMkLst>
          <pc:docMk/>
          <pc:sldMk cId="979403775" sldId="259"/>
        </pc:sldMkLst>
        <pc:spChg chg="mod">
          <ac:chgData name="Dawson Liu" userId="d66e70b8ef406eac" providerId="LiveId" clId="{30988846-2AD7-402F-A710-104D306926ED}" dt="2026-05-19T08:23:30.938" v="70" actId="2711"/>
          <ac:spMkLst>
            <pc:docMk/>
            <pc:sldMk cId="979403775" sldId="259"/>
            <ac:spMk id="4" creationId="{B5D46E2D-BAB5-E18C-3329-BAE99A6B5D09}"/>
          </ac:spMkLst>
        </pc:spChg>
        <pc:spChg chg="add mod">
          <ac:chgData name="Dawson Liu" userId="d66e70b8ef406eac" providerId="LiveId" clId="{30988846-2AD7-402F-A710-104D306926ED}" dt="2026-05-19T08:43:46.890" v="130" actId="1076"/>
          <ac:spMkLst>
            <pc:docMk/>
            <pc:sldMk cId="979403775" sldId="259"/>
            <ac:spMk id="9" creationId="{82D5C7C5-305B-9B9A-7E9B-088122EA6E73}"/>
          </ac:spMkLst>
        </pc:spChg>
        <pc:spChg chg="add mod">
          <ac:chgData name="Dawson Liu" userId="d66e70b8ef406eac" providerId="LiveId" clId="{30988846-2AD7-402F-A710-104D306926ED}" dt="2026-05-19T09:17:14.684" v="143"/>
          <ac:spMkLst>
            <pc:docMk/>
            <pc:sldMk cId="979403775" sldId="259"/>
            <ac:spMk id="11" creationId="{6724053A-B94A-658E-9221-22B4905CB008}"/>
          </ac:spMkLst>
        </pc:spChg>
        <pc:graphicFrameChg chg="modGraphic">
          <ac:chgData name="Dawson Liu" userId="d66e70b8ef406eac" providerId="LiveId" clId="{30988846-2AD7-402F-A710-104D306926ED}" dt="2026-05-19T08:32:52.212" v="72" actId="14100"/>
          <ac:graphicFrameMkLst>
            <pc:docMk/>
            <pc:sldMk cId="979403775" sldId="259"/>
            <ac:graphicFrameMk id="13" creationId="{8CE57BF2-3CF5-56B3-131E-FEAFDBC2DCC2}"/>
          </ac:graphicFrameMkLst>
        </pc:graphicFrameChg>
        <pc:picChg chg="del mod">
          <ac:chgData name="Dawson Liu" userId="d66e70b8ef406eac" providerId="LiveId" clId="{30988846-2AD7-402F-A710-104D306926ED}" dt="2026-05-19T08:23:33.592" v="71" actId="478"/>
          <ac:picMkLst>
            <pc:docMk/>
            <pc:sldMk cId="979403775" sldId="259"/>
            <ac:picMk id="7" creationId="{BFE2A40B-D896-8787-E33A-163354D7D53F}"/>
          </ac:picMkLst>
        </pc:picChg>
      </pc:sldChg>
      <pc:sldChg chg="addSp modSp mod">
        <pc:chgData name="Dawson Liu" userId="d66e70b8ef406eac" providerId="LiveId" clId="{30988846-2AD7-402F-A710-104D306926ED}" dt="2026-05-19T09:16:26.286" v="142" actId="1076"/>
        <pc:sldMkLst>
          <pc:docMk/>
          <pc:sldMk cId="4242768023" sldId="261"/>
        </pc:sldMkLst>
        <pc:spChg chg="add mod">
          <ac:chgData name="Dawson Liu" userId="d66e70b8ef406eac" providerId="LiveId" clId="{30988846-2AD7-402F-A710-104D306926ED}" dt="2026-05-19T09:16:26.286" v="142" actId="1076"/>
          <ac:spMkLst>
            <pc:docMk/>
            <pc:sldMk cId="4242768023" sldId="261"/>
            <ac:spMk id="4" creationId="{02F9D06F-AD15-4705-F2F1-94C32193ECAC}"/>
          </ac:spMkLst>
        </pc:spChg>
        <pc:spChg chg="mod">
          <ac:chgData name="Dawson Liu" userId="d66e70b8ef406eac" providerId="LiveId" clId="{30988846-2AD7-402F-A710-104D306926ED}" dt="2026-05-19T09:16:23.258" v="141" actId="14100"/>
          <ac:spMkLst>
            <pc:docMk/>
            <pc:sldMk cId="4242768023" sldId="261"/>
            <ac:spMk id="14" creationId="{FFD224AB-700F-6AF5-7B7B-DCDFBD86B24E}"/>
          </ac:spMkLst>
        </pc:spChg>
      </pc:sldChg>
    </pc:docChg>
  </pc:docChgLst>
</pc:chgInfo>
</file>

<file path=ppt/comments/modernComment_101_4B5D6F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30F765-09F5-4C73-AB65-4B53B93D671D}" authorId="{674E8586-21A9-3CF7-8818-CB2BC504E746}" created="2026-05-08T03:33:47.66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64414548" sldId="257"/>
      <ac:spMk id="12" creationId="{BF996801-4595-4573-BCC0-CA095426C18A}"/>
      <ac:txMk cp="0">
        <ac:context len="115" hash="2546380611"/>
      </ac:txMk>
    </ac:txMkLst>
    <p188:pos x="6743700" y="543339"/>
    <p188:txBody>
      <a:bodyPr/>
      <a:lstStyle/>
      <a:p>
        <a:r>
          <a:rPr lang="en-US"/>
          <a:t>Rewrite/add in unit cell size</a:t>
        </a:r>
      </a:p>
    </p188:txBody>
  </p188:cm>
</p188:cmLst>
</file>

<file path=ppt/comments/modernComment_102_EF0A9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711936-B288-43FD-BA3D-CF1BD94C8DE0}" authorId="{674E8586-21A9-3CF7-8818-CB2BC504E746}" created="2026-05-08T03:34:41.6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0653105" sldId="258"/>
      <ac:picMk id="11" creationId="{00000000-0000-0000-0000-000000000000}"/>
    </ac:deMkLst>
    <p188:txBody>
      <a:bodyPr/>
      <a:lstStyle/>
      <a:p>
        <a:r>
          <a:rPr lang="en-US"/>
          <a:t>Where are the plots?
Where is the processed data?
Where is the fitting script?</a:t>
        </a:r>
      </a:p>
    </p188:txBody>
  </p188:cm>
  <p188:cm id="{8093D16F-7250-46E2-A0A5-1CBBAAFC2FCF}" authorId="{674E8586-21A9-3CF7-8818-CB2BC504E746}" created="2026-05-08T03:34:56.4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0653105" sldId="258"/>
      <ac:spMk id="3" creationId="{7DE3E06C-9161-455D-A5E7-B66ACB0455E3}"/>
      <ac:txMk cp="0" len="29">
        <ac:context len="30" hash="60582205"/>
      </ac:txMk>
    </ac:txMkLst>
    <p188:pos x="4203976" y="106293"/>
    <p188:txBody>
      <a:bodyPr/>
      <a:lstStyle/>
      <a:p>
        <a:r>
          <a:rPr lang="en-US"/>
          <a:t>Figures are good!</a:t>
        </a:r>
      </a:p>
    </p188:txBody>
  </p188:cm>
  <p188:cm id="{1C02EA32-67B6-4D2C-9C22-83CC731D3DF2}" authorId="{674E8586-21A9-3CF7-8818-CB2BC504E746}" created="2026-05-08T03:35:13.49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0653105" sldId="258"/>
      <ac:spMk id="9" creationId="{F03E29E7-4484-4A7D-A866-32CB039AC277}"/>
      <ac:txMk cp="0">
        <ac:context len="85" hash="3663615582"/>
      </ac:txMk>
    </ac:txMkLst>
    <p188:txBody>
      <a:bodyPr/>
      <a:lstStyle/>
      <a:p>
        <a:r>
          <a:rPr lang="en-US"/>
          <a:t>Compare experimental lattice constant and B value</a:t>
        </a:r>
      </a:p>
    </p188:txBody>
  </p188:cm>
  <p188:cm id="{F6BEC093-B1DB-4C29-B585-FC3CE6F57748}" authorId="{674E8586-21A9-3CF7-8818-CB2BC504E746}" created="2026-05-08T03:35:51.84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0653105" sldId="258"/>
      <ac:spMk id="9" creationId="{F03E29E7-4484-4A7D-A866-32CB039AC277}"/>
      <ac:txMk cp="0">
        <ac:context len="85" hash="3663615582"/>
      </ac:txMk>
    </ac:txMkLst>
    <p188:txBody>
      <a:bodyPr/>
      <a:lstStyle/>
      <a:p>
        <a:r>
          <a:rPr lang="en-US"/>
          <a:t>Test 40x40x40 kpoints are least</a:t>
        </a:r>
      </a:p>
    </p188:txBody>
  </p188:cm>
</p188:cmLst>
</file>

<file path=ppt/comments/modernComment_103_3A6083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7DE5225-EBBE-493F-B51D-B2C620BDB151}" authorId="{674E8586-21A9-3CF7-8818-CB2BC504E746}" created="2026-05-08T03:37:31.6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79403775" sldId="259"/>
      <ac:spMk id="10" creationId="{8A36F0E5-CE25-40DF-A7EA-CDED0DB2A905}"/>
      <ac:txMk cp="94" len="15">
        <ac:context len="411" hash="3334338587"/>
      </ac:txMk>
    </ac:txMkLst>
    <p188:txBody>
      <a:bodyPr/>
      <a:lstStyle/>
      <a:p>
        <a:r>
          <a:rPr lang="en-US"/>
          <a:t>Structure inspection failed - where is the structure?</a:t>
        </a:r>
      </a:p>
    </p188:txBody>
  </p188:cm>
  <p188:cm id="{C70F1C49-07EB-45EB-A3A4-44BA528DF210}" authorId="{674E8586-21A9-3CF7-8818-CB2BC504E746}" created="2026-05-08T03:38:28.7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79403775" sldId="259"/>
      <ac:spMk id="8" creationId="{6E1FE423-4A2F-417A-8689-D7F1F274CABA}"/>
      <ac:txMk cp="21">
        <ac:context len="22" hash="309544231"/>
      </ac:txMk>
    </ac:txMkLst>
    <p188:pos x="1941858" y="105189"/>
    <p188:txBody>
      <a:bodyPr/>
      <a:lstStyle/>
      <a:p>
        <a:r>
          <a:rPr lang="en-US"/>
          <a:t>Check different energy cutoff</a:t>
        </a:r>
      </a:p>
    </p188:txBody>
  </p188:cm>
  <p188:cm id="{9DDC9096-0462-42FE-A14B-6C126F554111}" authorId="{674E8586-21A9-3CF7-8818-CB2BC504E746}" created="2026-05-08T03:38:43.43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79403775" sldId="259"/>
      <ac:spMk id="10" creationId="{8A36F0E5-CE25-40DF-A7EA-CDED0DB2A905}"/>
      <ac:txMk cp="94" len="15">
        <ac:context len="411" hash="3334338587"/>
      </ac:txMk>
    </ac:txMkLst>
    <p188:txBody>
      <a:bodyPr/>
      <a:lstStyle/>
      <a:p>
        <a:r>
          <a:rPr lang="en-US"/>
          <a:t>How was this measurewed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8693-837E-05F8-55B5-AFD4087FD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A3D1D-4852-A595-596F-745E03894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640A6-9DDB-9B7E-9225-149821B42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5E872-7EBA-EB60-5547-5DD3B02BDE8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1086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71B6C3-D0C8-49D9-B50E-D6013E301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D7C57D3-2F3E-4505-8C40-D07C11A43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D556905-3EEA-465D-95E8-A34587755A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C850084-E215-4A1F-8D76-785FFE9333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F1963B-19DA-4270-AD94-9C2486C632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9248C36-B43E-4CD2-AA29-390A944648A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4B5D6F5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EF0A9B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3A6083FF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D60BAE-187A-40D3-923C-09F2A8910CDF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0668000" cy="609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0">
                <a:solidFill>
                  <a:srgbClr val="111111"/>
                </a:solidFill>
              </a:defRPr>
            </a:pPr>
            <a:r>
              <a:rPr sz="28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hypothesis and background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E5951B-AA58-4948-B02C-B6C22AF071E0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765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55555"/>
                </a:solidFill>
              </a:defRPr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purpose: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A935DE-5CF8-4E13-A2C7-B76BCC7B45EB}"/>
              </a:ext>
            </a:extLst>
          </p:cNvPr>
          <p:cNvSpPr>
            <a:spLocks noGrp="1"/>
          </p:cNvSpPr>
          <p:nvPr/>
        </p:nvSpPr>
        <p:spPr>
          <a:xfrm>
            <a:off x="552450" y="1847850"/>
            <a:ext cx="10287000" cy="3633234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729"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 sz="1725" b="0">
                <a:solidFill>
                  <a:srgbClr val="555555"/>
                </a:solidFill>
              </a:defRPr>
            </a:pPr>
            <a:r>
              <a:rPr lang="en-US" altLang="zh-TW" sz="1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QE bulk and vacancy benchmarks.</a:t>
            </a:r>
          </a:p>
          <a:p>
            <a:pPr>
              <a:lnSpc>
                <a:spcPct val="150000"/>
              </a:lnSpc>
              <a:defRPr sz="1725" b="0">
                <a:solidFill>
                  <a:srgbClr val="555555"/>
                </a:solidFill>
              </a:defRPr>
            </a:pPr>
            <a:r>
              <a:rPr 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Compare QE and </a:t>
            </a:r>
            <a:r>
              <a:rPr lang="en-US" sz="1725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vacancy energetics.</a:t>
            </a:r>
          </a:p>
          <a:p>
            <a:pPr>
              <a:lnSpc>
                <a:spcPct val="150000"/>
              </a:lnSpc>
              <a:defRPr sz="1725" b="0">
                <a:solidFill>
                  <a:srgbClr val="555555"/>
                </a:solidFill>
              </a:defRPr>
            </a:pPr>
            <a:r>
              <a:rPr 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zh-TW" alt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7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numerical convergence from method limitation</a:t>
            </a:r>
            <a:r>
              <a:rPr 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1725" b="0">
                <a:solidFill>
                  <a:srgbClr val="555555"/>
                </a:solidFill>
              </a:defRPr>
            </a:pPr>
            <a:endParaRPr lang="en-US" sz="1725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725" b="0">
                <a:solidFill>
                  <a:srgbClr val="555555"/>
                </a:solidFill>
              </a:defRPr>
            </a:pPr>
            <a:r>
              <a:rPr 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anchor:</a:t>
            </a:r>
          </a:p>
          <a:p>
            <a:pPr>
              <a:lnSpc>
                <a:spcPct val="150000"/>
              </a:lnSpc>
              <a:defRPr sz="1725" b="0">
                <a:solidFill>
                  <a:srgbClr val="555555"/>
                </a:solidFill>
              </a:defRPr>
            </a:pPr>
            <a:r>
              <a:rPr lang="en-US" sz="1725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Gillan 1989: relaxed Al vacancy ≈ 0.56 eV; experiment ≈ 0.66 eV.</a:t>
            </a:r>
            <a:endParaRPr sz="1725" b="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7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2BEA09-2874-4B0A-A8B4-F470BFD60F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0D0D0"/>
          </a:solidFill>
          <a:ln w="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5729D-C283-485C-A365-A1F2E16CFAEB}"/>
              </a:ext>
            </a:extLst>
          </p:cNvPr>
          <p:cNvSpPr>
            <a:spLocks noGrp="1"/>
          </p:cNvSpPr>
          <p:nvPr/>
        </p:nvSpPr>
        <p:spPr>
          <a:xfrm>
            <a:off x="781050" y="495300"/>
            <a:ext cx="10382250" cy="609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0">
                <a:solidFill>
                  <a:srgbClr val="111111"/>
                </a:solidFill>
              </a:defRPr>
            </a:pPr>
            <a:r>
              <a:rPr sz="27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/ technical details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136FE36-0674-49E2-B73D-665554EF538F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5219700" cy="2509284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75F50A-3008-44D1-9995-1088FFC3814B}"/>
              </a:ext>
            </a:extLst>
          </p:cNvPr>
          <p:cNvSpPr>
            <a:spLocks noGrp="1"/>
          </p:cNvSpPr>
          <p:nvPr/>
        </p:nvSpPr>
        <p:spPr>
          <a:xfrm>
            <a:off x="819150" y="1581150"/>
            <a:ext cx="3238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lang="en-US" altLang="zh-TW" sz="15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 bulk EOS / B₀ workflow</a:t>
            </a:r>
            <a:endParaRPr sz="1575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1F6CDA-7097-4025-8C7B-20B5E6C56104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4800600" cy="1809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440" b="0">
                <a:solidFill>
                  <a:srgbClr val="555555"/>
                </a:solidFill>
              </a:defRPr>
            </a:pPr>
            <a:r>
              <a:rPr lang="en-US" sz="1600" b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Primitive </a:t>
            </a:r>
            <a:r>
              <a:rPr lang="en-US" sz="1600" b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fcc</a:t>
            </a:r>
            <a:r>
              <a:rPr lang="en-US" sz="1600" b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 bulk cell: 1 atom.
- EOS scan: 9 points from a0 = 4.000 to 4.080 A.
- </a:t>
            </a:r>
            <a:r>
              <a:rPr lang="en-US" sz="1600" b="0" dirty="0" err="1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ecut</a:t>
            </a:r>
            <a:r>
              <a:rPr lang="en-US" sz="1600" b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scan: 300-1000 eV at fixed 16x16x16.
- High-k check extended to 20, 24, 30, 40, 60, 80</a:t>
            </a:r>
            <a:r>
              <a:rPr lang="en-US" sz="1200" b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</a:t>
            </a:r>
            <a:endParaRPr sz="1200" b="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51974F5-150C-4E8A-9B7E-BC6DB2FC17C3}"/>
              </a:ext>
            </a:extLst>
          </p:cNvPr>
          <p:cNvSpPr>
            <a:spLocks noGrp="1"/>
          </p:cNvSpPr>
          <p:nvPr/>
        </p:nvSpPr>
        <p:spPr>
          <a:xfrm>
            <a:off x="6362700" y="1371600"/>
            <a:ext cx="5219700" cy="2509284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055E19-B55F-4676-9C73-7F21BDD79F86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3048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575" b="1">
                <a:solidFill>
                  <a:srgbClr val="111111"/>
                </a:solidFill>
              </a:defRPr>
            </a:pPr>
            <a:r>
              <a:rPr lang="en-US" altLang="zh-TW" sz="15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 vacancy supercell definition</a:t>
            </a:r>
            <a:endParaRPr sz="1575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185280-5953-4DEE-8716-9BD201DE8873}"/>
              </a:ext>
            </a:extLst>
          </p:cNvPr>
          <p:cNvSpPr>
            <a:spLocks noGrp="1"/>
          </p:cNvSpPr>
          <p:nvPr/>
        </p:nvSpPr>
        <p:spPr>
          <a:xfrm>
            <a:off x="6610350" y="1943099"/>
            <a:ext cx="4705350" cy="178546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sz="1440" b="0">
                <a:solidFill>
                  <a:srgbClr val="555555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fcc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cell: </a:t>
            </a: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atom</a:t>
            </a:r>
          </a:p>
          <a:p>
            <a:pPr>
              <a:defRPr sz="1440" b="0">
                <a:solidFill>
                  <a:srgbClr val="555555"/>
                </a:solidFill>
              </a:defRPr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supercell: </a:t>
            </a: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 4×4×4 repetition</a:t>
            </a:r>
          </a:p>
          <a:p>
            <a:pPr>
              <a:defRPr sz="1440" b="0">
                <a:solidFill>
                  <a:srgbClr val="555555"/>
                </a:solidFill>
              </a:defRPr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Pristine / vacancy: </a:t>
            </a: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atoms → 63 atoms</a:t>
            </a:r>
          </a:p>
          <a:p>
            <a:pPr>
              <a:defRPr sz="1440" b="0">
                <a:solidFill>
                  <a:srgbClr val="555555"/>
                </a:solidFill>
              </a:defRPr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Supercell vector length: </a:t>
            </a: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11.43 Å</a:t>
            </a:r>
          </a:p>
          <a:p>
            <a:pPr>
              <a:defRPr sz="1440" b="0">
                <a:solidFill>
                  <a:srgbClr val="555555"/>
                </a:solidFill>
              </a:defRPr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Supercell volume: </a:t>
            </a: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1054.9 Å³</a:t>
            </a:r>
          </a:p>
          <a:p>
            <a:pPr>
              <a:defRPr sz="1440" b="0">
                <a:solidFill>
                  <a:srgbClr val="555555"/>
                </a:solidFill>
              </a:defRPr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n×n×n</a:t>
            </a:r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primitive-cell replication, not volume in Å³.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5509711-C12D-4790-96B7-97C32A056A53}"/>
              </a:ext>
            </a:extLst>
          </p:cNvPr>
          <p:cNvSpPr>
            <a:spLocks noGrp="1"/>
          </p:cNvSpPr>
          <p:nvPr/>
        </p:nvSpPr>
        <p:spPr>
          <a:xfrm>
            <a:off x="609600" y="4005816"/>
            <a:ext cx="10972800" cy="2114550"/>
          </a:xfrm>
          <a:prstGeom prst="roundRect">
            <a:avLst>
              <a:gd name="adj" fmla="val 3604"/>
            </a:avLst>
          </a:prstGeom>
          <a:solidFill>
            <a:srgbClr val="EAF5EC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EC8F23-A118-43C1-8D7A-523D431FC477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3810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sz="1575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status and supercell notation caveat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996801-4595-4573-BCC0-CA095426C18A}"/>
              </a:ext>
            </a:extLst>
          </p:cNvPr>
          <p:cNvSpPr>
            <a:spLocks noGrp="1"/>
          </p:cNvSpPr>
          <p:nvPr/>
        </p:nvSpPr>
        <p:spPr>
          <a:xfrm>
            <a:off x="876300" y="4572000"/>
            <a:ext cx="10439400" cy="1219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440" b="0">
                <a:solidFill>
                  <a:srgbClr val="111111"/>
                </a:solidFill>
              </a:defRPr>
            </a:pPr>
            <a:r>
              <a:rPr lang="en-US" altLang="zh-TW" sz="1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Primitive-cell size scan completed: 4×4×4 to 14×14×14.</a:t>
            </a:r>
            <a:br>
              <a:rPr lang="en-US" altLang="zh-TW" sz="144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All </a:t>
            </a:r>
            <a:r>
              <a:rPr lang="en-US" altLang="zh-TW" sz="144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lang="en-US" altLang="zh-TW" sz="1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vacancy relaxations reached fmax &lt; 0.02 eV/A</a:t>
            </a:r>
            <a:r>
              <a:rPr lang="en-US" altLang="zh-TW" sz="1440" dirty="0"/>
              <a:t>.</a:t>
            </a:r>
            <a:endParaRPr sz="1150" b="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4145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8E75D4-2FC2-4672-9DBD-CD1E0367FC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0D0D0"/>
          </a:solidFill>
          <a:ln w="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E3E06C-9161-455D-A5E7-B66ACB0455E3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858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</a:defRPr>
            </a:pPr>
            <a:r>
              <a:rPr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bulk EOS convergence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48E1DBB-2BC2-47E1-A04E-39C199E08D9D}"/>
              </a:ext>
            </a:extLst>
          </p:cNvPr>
          <p:cNvSpPr>
            <a:spLocks noGrp="1"/>
          </p:cNvSpPr>
          <p:nvPr/>
        </p:nvSpPr>
        <p:spPr>
          <a:xfrm>
            <a:off x="457200" y="1390650"/>
            <a:ext cx="5619750" cy="304800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83643C4-1454-476F-97C6-14A4F365C21A}"/>
              </a:ext>
            </a:extLst>
          </p:cNvPr>
          <p:cNvSpPr>
            <a:spLocks noGrp="1"/>
          </p:cNvSpPr>
          <p:nvPr/>
        </p:nvSpPr>
        <p:spPr>
          <a:xfrm>
            <a:off x="6191250" y="1390650"/>
            <a:ext cx="5619750" cy="304800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5C28236-A69F-491D-9CCB-C7F9D789E89F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11353800" cy="1714500"/>
          </a:xfrm>
          <a:prstGeom prst="roundRect">
            <a:avLst>
              <a:gd name="adj" fmla="val 4444"/>
            </a:avLst>
          </a:prstGeom>
          <a:solidFill>
            <a:srgbClr val="EAF3FC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A389D6-B8F9-4944-A6B1-363B56C9938E}"/>
              </a:ext>
            </a:extLst>
          </p:cNvPr>
          <p:cNvSpPr>
            <a:spLocks noGrp="1"/>
          </p:cNvSpPr>
          <p:nvPr/>
        </p:nvSpPr>
        <p:spPr>
          <a:xfrm>
            <a:off x="685799" y="1485900"/>
            <a:ext cx="5091546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304"/>
          </a:bodyPr>
          <a:lstStyle/>
          <a:p>
            <a:pPr>
              <a:defRPr sz="1500" b="1">
                <a:solidFill>
                  <a:srgbClr val="111111"/>
                </a:solidFill>
              </a:defRPr>
            </a:pPr>
            <a:r>
              <a:rPr sz="15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B0 vs energy cutoff</a:t>
            </a:r>
            <a:r>
              <a:rPr lang="zh-TW" altLang="en-US" sz="15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0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(plotting scripts:/OFDFT/</a:t>
            </a:r>
            <a:r>
              <a:rPr lang="en-US" altLang="zh-TW" sz="1000" b="1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ploting_scripts</a:t>
            </a:r>
            <a:r>
              <a:rPr lang="en-US" altLang="zh-TW" sz="10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15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EA314-5595-4314-8A91-C36A8CDA1C94}"/>
              </a:ext>
            </a:extLst>
          </p:cNvPr>
          <p:cNvSpPr>
            <a:spLocks noGrp="1"/>
          </p:cNvSpPr>
          <p:nvPr/>
        </p:nvSpPr>
        <p:spPr>
          <a:xfrm>
            <a:off x="6419850" y="1485900"/>
            <a:ext cx="53911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304"/>
          </a:bodyPr>
          <a:lstStyle/>
          <a:p>
            <a:pPr>
              <a:defRPr sz="1500" b="1">
                <a:solidFill>
                  <a:srgbClr val="111111"/>
                </a:solidFill>
              </a:defRPr>
            </a:pPr>
            <a:r>
              <a:rPr lang="en-US" sz="1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B0 vs high-k mesh (20-80) </a:t>
            </a:r>
            <a:r>
              <a:rPr lang="en-US" altLang="zh-TW" sz="10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(plotting scripts:/OFDFT/</a:t>
            </a:r>
            <a:r>
              <a:rPr lang="en-US" altLang="zh-TW" sz="1000" b="1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ploting_scripts</a:t>
            </a:r>
            <a:r>
              <a:rPr lang="en-US" altLang="zh-TW" sz="10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10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400" b="1" dirty="0">
              <a:solidFill>
                <a:srgbClr val="11111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25744" y="1866900"/>
            <a:ext cx="3301711" cy="234315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898D36D-BECB-FFA0-C355-607B26DE456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650" y="1866900"/>
            <a:ext cx="3302000" cy="234315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4AF9BF65-8EDA-E0A4-51D9-68EE0AAC2D18}"/>
              </a:ext>
            </a:extLst>
          </p:cNvPr>
          <p:cNvSpPr txBox="1"/>
          <p:nvPr/>
        </p:nvSpPr>
        <p:spPr>
          <a:xfrm>
            <a:off x="2667815" y="4766786"/>
            <a:ext cx="44016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    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 (Å)       B0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   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~4.05     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~76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 40×40×40      4.039825  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77.991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 80×80×80      4.039865  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77.963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   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0.000040 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0.028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1E593E7-B862-E385-483A-DFE5809A4587}"/>
              </a:ext>
            </a:extLst>
          </p:cNvPr>
          <p:cNvSpPr txBox="1"/>
          <p:nvPr/>
        </p:nvSpPr>
        <p:spPr>
          <a:xfrm>
            <a:off x="6670964" y="5910992"/>
            <a:ext cx="2209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at /OFDFT/</a:t>
            </a:r>
            <a:r>
              <a:rPr lang="en-US" altLang="zh-TW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convergence_test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531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010338-F3AB-4D37-99E7-411C920C4F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0D0D0"/>
          </a:solidFill>
          <a:ln w="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FC0379-9BF5-49F8-8C6D-1A013289CC8E}"/>
              </a:ext>
            </a:extLst>
          </p:cNvPr>
          <p:cNvSpPr>
            <a:spLocks noGrp="1"/>
          </p:cNvSpPr>
          <p:nvPr/>
        </p:nvSpPr>
        <p:spPr>
          <a:xfrm>
            <a:off x="609600" y="646872"/>
            <a:ext cx="11049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</a:defRPr>
            </a:pPr>
            <a:r>
              <a:rPr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QE</a:t>
            </a:r>
            <a:r>
              <a:rPr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vacancy convergence</a:t>
            </a:r>
            <a:r>
              <a:rPr lang="zh-TW" altLang="en-US"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Gillan benchmark</a:t>
            </a:r>
            <a:endParaRPr sz="2550" b="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FC5061A-C28A-45AF-9F04-5F5C7B436682}"/>
              </a:ext>
            </a:extLst>
          </p:cNvPr>
          <p:cNvSpPr>
            <a:spLocks noGrp="1"/>
          </p:cNvSpPr>
          <p:nvPr/>
        </p:nvSpPr>
        <p:spPr>
          <a:xfrm>
            <a:off x="457200" y="1380711"/>
            <a:ext cx="5619750" cy="2781300"/>
          </a:xfrm>
          <a:prstGeom prst="roundRect">
            <a:avLst>
              <a:gd name="adj" fmla="val 2740"/>
            </a:avLst>
          </a:prstGeom>
          <a:solidFill>
            <a:srgbClr val="F7F7F7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CAD14CE-AE9E-44E0-BBE3-6F7F85E1F694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5619750" cy="2251364"/>
          </a:xfrm>
          <a:prstGeom prst="roundRect">
            <a:avLst>
              <a:gd name="adj" fmla="val 3738"/>
            </a:avLst>
          </a:prstGeom>
          <a:solidFill>
            <a:srgbClr val="F8EBD9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1FE423-4A2F-417A-8689-D7F1F274CABA}"/>
              </a:ext>
            </a:extLst>
          </p:cNvPr>
          <p:cNvSpPr>
            <a:spLocks noGrp="1"/>
          </p:cNvSpPr>
          <p:nvPr/>
        </p:nvSpPr>
        <p:spPr>
          <a:xfrm>
            <a:off x="695325" y="1617594"/>
            <a:ext cx="2421948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304" lnSpcReduction="10000"/>
          </a:bodyPr>
          <a:lstStyle/>
          <a:p>
            <a:pPr>
              <a:defRPr sz="1500" b="1">
                <a:solidFill>
                  <a:srgbClr val="111111"/>
                </a:solidFill>
              </a:defRPr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inspection</a:t>
            </a:r>
          </a:p>
          <a:p>
            <a:pPr algn="l">
              <a:defRPr sz="1500" b="1">
                <a:solidFill>
                  <a:srgbClr val="111111"/>
                </a:solidFill>
              </a:defRPr>
            </a:pPr>
            <a:endParaRPr sz="14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F466ABE-76E0-8AE5-2BFB-81E4B9810A9E}"/>
              </a:ext>
            </a:extLst>
          </p:cNvPr>
          <p:cNvSpPr txBox="1"/>
          <p:nvPr/>
        </p:nvSpPr>
        <p:spPr>
          <a:xfrm>
            <a:off x="695325" y="4378692"/>
            <a:ext cx="304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 dense-k table at 600 eV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CE57BF2-3CF5-56B3-131E-FEAFDBC2D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082850"/>
              </p:ext>
            </p:extLst>
          </p:nvPr>
        </p:nvGraphicFramePr>
        <p:xfrm>
          <a:off x="698500" y="4808040"/>
          <a:ext cx="3430155" cy="1626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031">
                  <a:extLst>
                    <a:ext uri="{9D8B030D-6E8A-4147-A177-3AD203B41FA5}">
                      <a16:colId xmlns:a16="http://schemas.microsoft.com/office/drawing/2014/main" val="1870791564"/>
                    </a:ext>
                  </a:extLst>
                </a:gridCol>
                <a:gridCol w="809165">
                  <a:extLst>
                    <a:ext uri="{9D8B030D-6E8A-4147-A177-3AD203B41FA5}">
                      <a16:colId xmlns:a16="http://schemas.microsoft.com/office/drawing/2014/main" val="1638488501"/>
                    </a:ext>
                  </a:extLst>
                </a:gridCol>
                <a:gridCol w="1934959">
                  <a:extLst>
                    <a:ext uri="{9D8B030D-6E8A-4147-A177-3AD203B41FA5}">
                      <a16:colId xmlns:a16="http://schemas.microsoft.com/office/drawing/2014/main" val="1249289967"/>
                    </a:ext>
                  </a:extLst>
                </a:gridCol>
              </a:tblGrid>
              <a:tr h="201083">
                <a:tc>
                  <a:txBody>
                    <a:bodyPr/>
                    <a:lstStyle/>
                    <a:p>
                      <a:r>
                        <a:rPr lang="en-US" altLang="zh-TW" sz="925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k-mesh</a:t>
                      </a:r>
                      <a:endParaRPr lang="zh-TW" altLang="en-US" sz="925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 b="1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Ef_vac</a:t>
                      </a:r>
                      <a:r>
                        <a:rPr lang="en-US" altLang="zh-TW" sz="925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(eV)</a:t>
                      </a:r>
                      <a:endParaRPr lang="zh-TW" altLang="en-US" sz="925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</a:t>
                      </a:r>
                      <a:endParaRPr lang="zh-TW" altLang="en-US" sz="925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581604"/>
                  </a:ext>
                </a:extLst>
              </a:tr>
              <a:tr h="201083"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Aptos" panose="020B0004020202020204" pitchFamily="34" charset="0"/>
                        </a:rPr>
                        <a:t>1x1x1</a:t>
                      </a:r>
                      <a:endParaRPr lang="zh-TW" altLang="en-US" sz="925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Aptos" panose="020B0004020202020204" pitchFamily="34" charset="0"/>
                        </a:rPr>
                        <a:t>-1.113</a:t>
                      </a:r>
                      <a:endParaRPr lang="zh-TW" altLang="en-US" sz="925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unphysical</a:t>
                      </a:r>
                      <a:endParaRPr lang="zh-TW" altLang="en-US" sz="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150764"/>
                  </a:ext>
                </a:extLst>
              </a:tr>
              <a:tr h="201083"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Aptos" panose="020B0004020202020204" pitchFamily="34" charset="0"/>
                        </a:rPr>
                        <a:t>2x2x2</a:t>
                      </a:r>
                      <a:endParaRPr lang="zh-TW" altLang="en-US" sz="925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Aptos" panose="020B0004020202020204" pitchFamily="34" charset="0"/>
                        </a:rPr>
                        <a:t>0.735</a:t>
                      </a:r>
                      <a:endParaRPr lang="zh-TW" altLang="en-US" sz="925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zh-TW" altLang="en-US" sz="925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370396"/>
                  </a:ext>
                </a:extLst>
              </a:tr>
              <a:tr h="201083"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Aptos" panose="020B0004020202020204" pitchFamily="34" charset="0"/>
                        </a:rPr>
                        <a:t>3x3x3</a:t>
                      </a:r>
                      <a:endParaRPr lang="zh-TW" altLang="en-US" sz="925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Aptos" panose="020B0004020202020204" pitchFamily="34" charset="0"/>
                        </a:rPr>
                        <a:t>0.945</a:t>
                      </a:r>
                      <a:endParaRPr lang="zh-TW" altLang="en-US" sz="925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zh-TW" altLang="en-US" sz="925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36476"/>
                  </a:ext>
                </a:extLst>
              </a:tr>
              <a:tr h="201083">
                <a:tc>
                  <a:txBody>
                    <a:bodyPr/>
                    <a:lstStyle/>
                    <a:p>
                      <a:r>
                        <a:rPr lang="en-US" altLang="zh-TW" sz="925" dirty="0">
                          <a:latin typeface="Aptos" panose="020B0004020202020204" pitchFamily="34" charset="0"/>
                        </a:rPr>
                        <a:t>4x4x4</a:t>
                      </a:r>
                      <a:endParaRPr lang="zh-TW" altLang="en-US" sz="925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Aptos" panose="020B0004020202020204" pitchFamily="34" charset="0"/>
                        </a:rPr>
                        <a:t>0.648</a:t>
                      </a:r>
                      <a:endParaRPr lang="zh-TW" altLang="en-US" sz="925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 exp 0.66</a:t>
                      </a:r>
                      <a:endParaRPr lang="zh-TW" altLang="en-US" sz="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785180"/>
                  </a:ext>
                </a:extLst>
              </a:tr>
              <a:tr h="201083">
                <a:tc>
                  <a:txBody>
                    <a:bodyPr/>
                    <a:lstStyle/>
                    <a:p>
                      <a:r>
                        <a:rPr lang="en-US" altLang="zh-TW" sz="925" dirty="0">
                          <a:latin typeface="Aptos" panose="020B0004020202020204" pitchFamily="34" charset="0"/>
                        </a:rPr>
                        <a:t>5x5x5</a:t>
                      </a:r>
                      <a:endParaRPr lang="zh-TW" altLang="en-US" sz="925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>
                          <a:latin typeface="Aptos" panose="020B0004020202020204" pitchFamily="34" charset="0"/>
                        </a:rPr>
                        <a:t>0.573</a:t>
                      </a:r>
                      <a:endParaRPr lang="zh-TW" altLang="en-US" sz="925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 Gillan 0.56</a:t>
                      </a:r>
                      <a:endParaRPr lang="zh-TW" altLang="en-US" sz="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314569"/>
                  </a:ext>
                </a:extLst>
              </a:tr>
              <a:tr h="201083">
                <a:tc>
                  <a:txBody>
                    <a:bodyPr/>
                    <a:lstStyle/>
                    <a:p>
                      <a:r>
                        <a:rPr lang="en-US" altLang="zh-TW" sz="925" dirty="0">
                          <a:latin typeface="Aptos" panose="020B0004020202020204" pitchFamily="34" charset="0"/>
                        </a:rPr>
                        <a:t>6x6x6</a:t>
                      </a:r>
                      <a:endParaRPr lang="zh-TW" altLang="en-US" sz="925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 dirty="0">
                          <a:latin typeface="Aptos" panose="020B0004020202020204" pitchFamily="34" charset="0"/>
                        </a:rPr>
                        <a:t>0.615</a:t>
                      </a:r>
                      <a:endParaRPr lang="zh-TW" altLang="en-US" sz="925" dirty="0"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9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zh-TW" altLang="en-US" sz="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843516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9AD6B9A7-0AD0-A2D2-1BD3-69D1A4AA6070}"/>
              </a:ext>
            </a:extLst>
          </p:cNvPr>
          <p:cNvSpPr/>
          <p:nvPr/>
        </p:nvSpPr>
        <p:spPr>
          <a:xfrm>
            <a:off x="6419850" y="1405248"/>
            <a:ext cx="4800600" cy="3795365"/>
          </a:xfrm>
          <a:prstGeom prst="rect">
            <a:avLst/>
          </a:prstGeom>
          <a:solidFill>
            <a:srgbClr val="ECF1ED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5D46E2D-BAB5-E18C-3329-BAE99A6B5D09}"/>
                  </a:ext>
                </a:extLst>
              </p:cNvPr>
              <p:cNvSpPr txBox="1"/>
              <p:nvPr/>
            </p:nvSpPr>
            <p:spPr>
              <a:xfrm>
                <a:off x="695325" y="1892400"/>
                <a:ext cx="4648490" cy="198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Primitive 4×4×4 </a:t>
                </a:r>
                <a:r>
                  <a:rPr lang="en-US" altLang="zh-TW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fcc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Pristine: 64 atoms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Vacancy: 63 atoms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Removed atom: center site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Volume: 1054.9 Å³</a:t>
                </a:r>
              </a:p>
              <a:p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vac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vac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perfect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5D46E2D-BAB5-E18C-3329-BAE99A6B5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" y="1892400"/>
                <a:ext cx="4648490" cy="1982979"/>
              </a:xfrm>
              <a:prstGeom prst="rect">
                <a:avLst/>
              </a:prstGeom>
              <a:blipFill>
                <a:blip r:embed="rId4"/>
                <a:stretch>
                  <a:fillRect l="-655" t="-1227" b="-27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05F7D863-59D9-9F02-8252-27243D1B625A}"/>
              </a:ext>
            </a:extLst>
          </p:cNvPr>
          <p:cNvSpPr txBox="1"/>
          <p:nvPr/>
        </p:nvSpPr>
        <p:spPr>
          <a:xfrm>
            <a:off x="7065818" y="1405249"/>
            <a:ext cx="3811732" cy="360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Cutoff convergence at 2×2×2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 eV  0.7324 eV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 eV  0.7345 eV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eV  0.7346 eV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 eV  0.7347 eV</a:t>
            </a:r>
          </a:p>
          <a:p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Dense-k cutoff check at 5×5×5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 eV  0.572389 eV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eV  0.572440 eV</a:t>
            </a: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 eV  0.572529 eV</a:t>
            </a:r>
          </a:p>
          <a:p>
            <a:pPr>
              <a:lnSpc>
                <a:spcPct val="150000"/>
              </a:lnSpc>
            </a:pPr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Cutoff effect is negligible above 400 eV.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2D5C7C5-305B-9B9A-7E9B-088122EA6E73}"/>
              </a:ext>
            </a:extLst>
          </p:cNvPr>
          <p:cNvSpPr txBox="1"/>
          <p:nvPr/>
        </p:nvSpPr>
        <p:spPr>
          <a:xfrm>
            <a:off x="4221596" y="5621475"/>
            <a:ext cx="1192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:/OFDFT/</a:t>
            </a:r>
            <a:r>
              <a:rPr lang="en-US" altLang="zh-TW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convergence_test</a:t>
            </a:r>
            <a:r>
              <a:rPr lang="en-US" altLang="zh-TW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/qe_vacancy_all_recursive_summary.csv</a:t>
            </a:r>
            <a:endParaRPr lang="zh-TW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24053A-B94A-658E-9221-22B4905CB008}"/>
              </a:ext>
            </a:extLst>
          </p:cNvPr>
          <p:cNvSpPr txBox="1"/>
          <p:nvPr/>
        </p:nvSpPr>
        <p:spPr>
          <a:xfrm>
            <a:off x="9131879" y="3722499"/>
            <a:ext cx="119264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://OFDFT/</a:t>
            </a:r>
            <a:r>
              <a:rPr lang="en-US" altLang="zh-TW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convergence_test</a:t>
            </a:r>
            <a:r>
              <a:rPr lang="en-US" altLang="zh-TW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QE_ecut_scan</a:t>
            </a:r>
            <a:endParaRPr lang="zh-TW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403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EB7AB-02D9-75D8-DD90-1B76C77A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FDC92A7-08D1-405B-41A2-021749DAD9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0D0D0"/>
          </a:solidFill>
          <a:ln w="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715BCD-4B12-6145-7913-415EAA95F4A2}"/>
              </a:ext>
            </a:extLst>
          </p:cNvPr>
          <p:cNvSpPr>
            <a:spLocks noGrp="1"/>
          </p:cNvSpPr>
          <p:nvPr/>
        </p:nvSpPr>
        <p:spPr>
          <a:xfrm>
            <a:off x="609600" y="646872"/>
            <a:ext cx="11049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</a:defRPr>
            </a:pPr>
            <a:r>
              <a:rPr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r>
              <a:rPr lang="en-US" sz="2550" b="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lang="en-US"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vacancy </a:t>
            </a:r>
            <a:r>
              <a:rPr lang="en-US"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 energy</a:t>
            </a:r>
            <a:endParaRPr sz="2550" b="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0FCCB1F-695E-3786-E4E7-966E57FC5C72}"/>
              </a:ext>
            </a:extLst>
          </p:cNvPr>
          <p:cNvSpPr>
            <a:spLocks noGrp="1"/>
          </p:cNvSpPr>
          <p:nvPr/>
        </p:nvSpPr>
        <p:spPr>
          <a:xfrm>
            <a:off x="457200" y="1380711"/>
            <a:ext cx="5619750" cy="2781300"/>
          </a:xfrm>
          <a:prstGeom prst="roundRect">
            <a:avLst>
              <a:gd name="adj" fmla="val 2740"/>
            </a:avLst>
          </a:prstGeom>
          <a:solidFill>
            <a:srgbClr val="F7F7F7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6A5E174-D8FB-314A-7A2B-90B3996ADC85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5619750" cy="2038350"/>
          </a:xfrm>
          <a:prstGeom prst="roundRect">
            <a:avLst>
              <a:gd name="adj" fmla="val 3738"/>
            </a:avLst>
          </a:prstGeom>
          <a:solidFill>
            <a:srgbClr val="F8EBD9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4B2E52-C9BE-EE9F-3EE7-7069DFEC4728}"/>
              </a:ext>
            </a:extLst>
          </p:cNvPr>
          <p:cNvSpPr>
            <a:spLocks noGrp="1"/>
          </p:cNvSpPr>
          <p:nvPr/>
        </p:nvSpPr>
        <p:spPr>
          <a:xfrm>
            <a:off x="695325" y="1617594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304"/>
          </a:bodyPr>
          <a:lstStyle/>
          <a:p>
            <a:pPr>
              <a:defRPr sz="1500" b="1">
                <a:solidFill>
                  <a:srgbClr val="111111"/>
                </a:solidFill>
              </a:defRPr>
            </a:pPr>
            <a:r>
              <a:rPr lang="en-US" altLang="zh-TW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lang="en-US" altLang="zh-TW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OFDFT setup</a:t>
            </a:r>
            <a:endParaRPr sz="1400" b="1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D224AB-700F-6AF5-7B7B-DCDFBD86B24E}"/>
              </a:ext>
            </a:extLst>
          </p:cNvPr>
          <p:cNvSpPr/>
          <p:nvPr/>
        </p:nvSpPr>
        <p:spPr>
          <a:xfrm>
            <a:off x="6315075" y="1380711"/>
            <a:ext cx="5499238" cy="4205080"/>
          </a:xfrm>
          <a:prstGeom prst="rect">
            <a:avLst/>
          </a:prstGeom>
          <a:solidFill>
            <a:srgbClr val="ECF1ED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2693069-1F64-0FD3-B720-280C3D2D61FE}"/>
              </a:ext>
            </a:extLst>
          </p:cNvPr>
          <p:cNvSpPr txBox="1"/>
          <p:nvPr/>
        </p:nvSpPr>
        <p:spPr>
          <a:xfrm>
            <a:off x="627269" y="1846179"/>
            <a:ext cx="5095461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KEDF: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TFvW</a:t>
            </a:r>
            <a:b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Pseudopotential: BLPS local Al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recpot</a:t>
            </a:r>
            <a:b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XC: PBE-GGA</a:t>
            </a:r>
            <a:b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Geometry: primitive FCC supercells</a:t>
            </a:r>
            <a:b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Lattice constant fixed to QE a0 for direct comparison</a:t>
            </a:r>
            <a:b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Vacancy: one central Al atom removed</a:t>
            </a:r>
            <a:b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Relaxation target: fmax &lt; 0.02 eV/Å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AC750C4D-EC34-9698-20FA-48CE3FB5D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74911"/>
              </p:ext>
            </p:extLst>
          </p:nvPr>
        </p:nvGraphicFramePr>
        <p:xfrm>
          <a:off x="5722730" y="1664790"/>
          <a:ext cx="5913231" cy="2194560"/>
        </p:xfrm>
        <a:graphic>
          <a:graphicData uri="http://schemas.openxmlformats.org/drawingml/2006/table">
            <a:tbl>
              <a:tblPr/>
              <a:tblGrid>
                <a:gridCol w="1971077">
                  <a:extLst>
                    <a:ext uri="{9D8B030D-6E8A-4147-A177-3AD203B41FA5}">
                      <a16:colId xmlns:a16="http://schemas.microsoft.com/office/drawing/2014/main" val="2877745589"/>
                    </a:ext>
                  </a:extLst>
                </a:gridCol>
                <a:gridCol w="1971077">
                  <a:extLst>
                    <a:ext uri="{9D8B030D-6E8A-4147-A177-3AD203B41FA5}">
                      <a16:colId xmlns:a16="http://schemas.microsoft.com/office/drawing/2014/main" val="3820650049"/>
                    </a:ext>
                  </a:extLst>
                </a:gridCol>
                <a:gridCol w="1971077">
                  <a:extLst>
                    <a:ext uri="{9D8B030D-6E8A-4147-A177-3AD203B41FA5}">
                      <a16:colId xmlns:a16="http://schemas.microsoft.com/office/drawing/2014/main" val="3063440849"/>
                    </a:ext>
                  </a:extLst>
                </a:gridCol>
              </a:tblGrid>
              <a:tr h="3208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spacing 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ecut analogue 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Ef_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01062"/>
                  </a:ext>
                </a:extLst>
              </a:tr>
              <a:tr h="3208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2.9366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92873"/>
                  </a:ext>
                </a:extLst>
              </a:tr>
              <a:tr h="3208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2.9332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470687"/>
                  </a:ext>
                </a:extLst>
              </a:tr>
              <a:tr h="3208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2.9329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176021"/>
                  </a:ext>
                </a:extLst>
              </a:tr>
              <a:tr h="3208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2.9371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818023"/>
                  </a:ext>
                </a:extLst>
              </a:tr>
              <a:tr h="3208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2.9371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253283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26EC49FB-C521-7A83-A733-CAAAA639F148}"/>
              </a:ext>
            </a:extLst>
          </p:cNvPr>
          <p:cNvSpPr txBox="1"/>
          <p:nvPr/>
        </p:nvSpPr>
        <p:spPr>
          <a:xfrm>
            <a:off x="7129670" y="4094922"/>
            <a:ext cx="3511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scan remains around 2.89–2.95 eV.</a:t>
            </a:r>
          </a:p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high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is not caused by insufficient supercell size.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8E534CB-3E5C-EE80-9D6B-DFE3A721B4CA}"/>
              </a:ext>
            </a:extLst>
          </p:cNvPr>
          <p:cNvSpPr txBox="1"/>
          <p:nvPr/>
        </p:nvSpPr>
        <p:spPr>
          <a:xfrm>
            <a:off x="695325" y="4833586"/>
            <a:ext cx="49364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TFvW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a numerically stable but systematically higher vacancy formation energy:</a:t>
            </a:r>
          </a:p>
          <a:p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2.9–3.2 eV, while QE ≈ 0.57–0.62 eV and literature / experiment ≈ 0.56–0.66 eV.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2F9D06F-AD15-4705-F2F1-94C32193ECAC}"/>
              </a:ext>
            </a:extLst>
          </p:cNvPr>
          <p:cNvSpPr txBox="1"/>
          <p:nvPr/>
        </p:nvSpPr>
        <p:spPr>
          <a:xfrm>
            <a:off x="7129670" y="5061791"/>
            <a:ext cx="22653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:/OFDFT/</a:t>
            </a:r>
            <a:r>
              <a:rPr lang="en-US" altLang="zh-TW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convergence_test</a:t>
            </a:r>
            <a:r>
              <a:rPr lang="en-US" altLang="zh-TW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DFTpy_ecut_spacing</a:t>
            </a:r>
            <a:r>
              <a:rPr lang="en-US" altLang="zh-TW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scan/</a:t>
            </a:r>
            <a:r>
              <a:rPr lang="en-US" altLang="zh-TW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spacing_scan</a:t>
            </a:r>
            <a:endParaRPr lang="zh-TW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76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D024CC-980B-4D15-8958-0B793D2194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0D0D0"/>
          </a:solidFill>
          <a:ln w="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3D7FD7-31D8-42A3-AC3F-8A5F12262197}"/>
              </a:ext>
            </a:extLst>
          </p:cNvPr>
          <p:cNvSpPr>
            <a:spLocks noGrp="1"/>
          </p:cNvSpPr>
          <p:nvPr/>
        </p:nvSpPr>
        <p:spPr>
          <a:xfrm>
            <a:off x="628650" y="685800"/>
            <a:ext cx="8572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</a:defRPr>
            </a:pPr>
            <a:r>
              <a:rPr sz="255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/ discussion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27DD889-9DA8-4F17-8498-A3D5AD975FC5}"/>
              </a:ext>
            </a:extLst>
          </p:cNvPr>
          <p:cNvSpPr>
            <a:spLocks noGrp="1"/>
          </p:cNvSpPr>
          <p:nvPr/>
        </p:nvSpPr>
        <p:spPr>
          <a:xfrm>
            <a:off x="609600" y="1485899"/>
            <a:ext cx="10668000" cy="3436529"/>
          </a:xfrm>
          <a:prstGeom prst="roundRect">
            <a:avLst>
              <a:gd name="adj" fmla="val 6349"/>
            </a:avLst>
          </a:prstGeom>
          <a:solidFill>
            <a:srgbClr val="EAF5EC"/>
          </a:solidFill>
          <a:ln w="10478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F089B0-88E3-493D-B821-4557D7263F2A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3048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304"/>
          </a:bodyPr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already defensible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830FC2-7125-4E69-885F-1C008F2FB234}"/>
              </a:ext>
            </a:extLst>
          </p:cNvPr>
          <p:cNvSpPr>
            <a:spLocks noGrp="1"/>
          </p:cNvSpPr>
          <p:nvPr/>
        </p:nvSpPr>
        <p:spPr>
          <a:xfrm>
            <a:off x="876300" y="1962149"/>
            <a:ext cx="9982200" cy="326142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 sz="1470" b="0">
                <a:solidFill>
                  <a:srgbClr val="555555"/>
                </a:solidFill>
              </a:defRPr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Convergence: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80×80×80 k-mesh validates that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40×40×40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sufficient.</a:t>
            </a:r>
          </a:p>
          <a:p>
            <a:pPr marL="342900" indent="-342900">
              <a:lnSpc>
                <a:spcPct val="150000"/>
              </a:lnSpc>
              <a:buAutoNum type="arabicPeriod"/>
              <a:defRPr sz="1470" b="0">
                <a:solidFill>
                  <a:srgbClr val="555555"/>
                </a:solidFill>
              </a:defRPr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Vacancy Formation (QE):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0.5725 eV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closely matching Gillan 1989 (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0.56 eV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lnSpc>
                <a:spcPct val="150000"/>
              </a:lnSpc>
              <a:buAutoNum type="arabicPeriod"/>
              <a:defRPr sz="1470" b="0">
                <a:solidFill>
                  <a:srgbClr val="555555"/>
                </a:solidFill>
              </a:defRPr>
            </a:pP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DFTpy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Stability: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Vacancy energy is stable at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~2.94 eV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both grid spacing and supercell size scans (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14×14×14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lnSpc>
                <a:spcPct val="150000"/>
              </a:lnSpc>
              <a:buAutoNum type="arabicPeriod"/>
              <a:defRPr sz="1470" b="0">
                <a:solidFill>
                  <a:srgbClr val="555555"/>
                </a:solidFill>
              </a:defRPr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Discrepancy is attributed to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limitations (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TFvW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numerical parameters (spacing/size).</a:t>
            </a:r>
            <a:endParaRPr sz="2000" b="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551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665</Words>
  <Application>Microsoft Office PowerPoint</Application>
  <DocSecurity>0</DocSecurity>
  <PresentationFormat>寬螢幕</PresentationFormat>
  <Paragraphs>106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Aptos</vt:lpstr>
      <vt:lpstr>Calibri</vt:lpstr>
      <vt:lpstr>Cambria Math</vt:lpstr>
      <vt:lpstr>Times New Roman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M133100036</cp:lastModifiedBy>
  <cp:revision>9</cp:revision>
  <dcterms:created xsi:type="dcterms:W3CDTF">2026-05-08T02:45:38Z</dcterms:created>
  <dcterms:modified xsi:type="dcterms:W3CDTF">2026-05-19T09:17:24Z</dcterms:modified>
</cp:coreProperties>
</file>